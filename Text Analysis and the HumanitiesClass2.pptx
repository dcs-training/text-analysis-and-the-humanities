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sldIdLst>
    <p:sldId id="256" r:id="rId3"/>
    <p:sldId id="383" r:id="rId4"/>
    <p:sldId id="387" r:id="rId5"/>
    <p:sldId id="410" r:id="rId6"/>
    <p:sldId id="401" r:id="rId7"/>
    <p:sldId id="389" r:id="rId8"/>
    <p:sldId id="402" r:id="rId9"/>
    <p:sldId id="400" r:id="rId10"/>
    <p:sldId id="34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736225"/>
            <a:ext cx="9277350" cy="773738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08000" y="3492000"/>
            <a:ext cx="1460157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61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381990"/>
            <a:ext cx="4515402" cy="210333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3B32FA-AB48-ACD8-44BB-20FC5C654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2000" y="0"/>
            <a:ext cx="6120000" cy="592296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08000" y="34920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381990"/>
            <a:ext cx="4515402" cy="210333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08000" y="34920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1980" y="-1"/>
            <a:ext cx="607002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587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4084320" cy="592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014518"/>
            <a:ext cx="2550336" cy="2470805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80000"/>
              </a:lnSpc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8"/>
            <a:ext cx="2550336" cy="75713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08000" y="34920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84320" y="0"/>
            <a:ext cx="810768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894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57A787A-5B26-5E5F-8C4A-D9CAF85B7F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00000" y="2055813"/>
            <a:ext cx="10515600" cy="35860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0AA01-B911-2142-70CA-329C81AF8FCB}"/>
              </a:ext>
            </a:extLst>
          </p:cNvPr>
          <p:cNvSpPr/>
          <p:nvPr userDrawn="1"/>
        </p:nvSpPr>
        <p:spPr>
          <a:xfrm>
            <a:off x="0" y="-1"/>
            <a:ext cx="12192000" cy="153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43837-B7AA-58EE-AEF3-5A37A84C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466455"/>
            <a:ext cx="10515600" cy="597087"/>
          </a:xfrm>
        </p:spPr>
        <p:txBody>
          <a:bodyPr anchor="ctr" anchorCtr="0">
            <a:sp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4F3AE-297E-5938-F544-541FD8F7683F}"/>
              </a:ext>
            </a:extLst>
          </p:cNvPr>
          <p:cNvCxnSpPr>
            <a:cxnSpLocks/>
          </p:cNvCxnSpPr>
          <p:nvPr userDrawn="1"/>
        </p:nvCxnSpPr>
        <p:spPr>
          <a:xfrm>
            <a:off x="0" y="1474814"/>
            <a:ext cx="2644346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415A6D-4AA7-AC4B-D3AD-381654604667}"/>
              </a:ext>
            </a:extLst>
          </p:cNvPr>
          <p:cNvCxnSpPr>
            <a:cxnSpLocks/>
          </p:cNvCxnSpPr>
          <p:nvPr userDrawn="1"/>
        </p:nvCxnSpPr>
        <p:spPr>
          <a:xfrm>
            <a:off x="2537254" y="1474814"/>
            <a:ext cx="9654746" cy="0"/>
          </a:xfrm>
          <a:prstGeom prst="line">
            <a:avLst/>
          </a:prstGeom>
          <a:ln w="635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713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57A787A-5B26-5E5F-8C4A-D9CAF85B7F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00000" y="2055813"/>
            <a:ext cx="10515600" cy="35860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0AA01-B911-2142-70CA-329C81AF8FCB}"/>
              </a:ext>
            </a:extLst>
          </p:cNvPr>
          <p:cNvSpPr/>
          <p:nvPr userDrawn="1"/>
        </p:nvSpPr>
        <p:spPr>
          <a:xfrm>
            <a:off x="0" y="-1"/>
            <a:ext cx="12192000" cy="153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43837-B7AA-58EE-AEF3-5A37A84C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466455"/>
            <a:ext cx="10515600" cy="597087"/>
          </a:xfrm>
        </p:spPr>
        <p:txBody>
          <a:bodyPr anchor="ctr" anchorCtr="0">
            <a:sp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D0E79-4E52-8726-B7B7-FCD141624396}"/>
              </a:ext>
            </a:extLst>
          </p:cNvPr>
          <p:cNvSpPr/>
          <p:nvPr userDrawn="1"/>
        </p:nvSpPr>
        <p:spPr>
          <a:xfrm>
            <a:off x="67378" y="-3"/>
            <a:ext cx="67379" cy="59294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A6404-FCEE-D818-35D7-27C0D3A45CC0}"/>
              </a:ext>
            </a:extLst>
          </p:cNvPr>
          <p:cNvSpPr/>
          <p:nvPr userDrawn="1"/>
        </p:nvSpPr>
        <p:spPr>
          <a:xfrm>
            <a:off x="-1" y="0"/>
            <a:ext cx="67379" cy="59294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44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30AA01-B911-2142-70CA-329C81AF8FCB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43837-B7AA-58EE-AEF3-5A37A84C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365125"/>
            <a:ext cx="10515600" cy="1325563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4F3AE-297E-5938-F544-541FD8F7683F}"/>
              </a:ext>
            </a:extLst>
          </p:cNvPr>
          <p:cNvCxnSpPr>
            <a:cxnSpLocks/>
          </p:cNvCxnSpPr>
          <p:nvPr userDrawn="1"/>
        </p:nvCxnSpPr>
        <p:spPr>
          <a:xfrm>
            <a:off x="1008000" y="1669696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79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with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4A6997-D66F-64A3-1D50-902B4FE398AA}"/>
              </a:ext>
            </a:extLst>
          </p:cNvPr>
          <p:cNvSpPr/>
          <p:nvPr userDrawn="1"/>
        </p:nvSpPr>
        <p:spPr>
          <a:xfrm>
            <a:off x="-10299" y="0"/>
            <a:ext cx="12192000" cy="1690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DA5A9-986A-A65F-7DF9-15C20152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365125"/>
            <a:ext cx="10515600" cy="1325563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427D-D92A-BB52-E3B8-976691A0A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000" y="2055813"/>
            <a:ext cx="5032170" cy="357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FDC9A-44FA-A8C0-F6CB-25CDCD57C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5813"/>
            <a:ext cx="5181600" cy="357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54E6E1-A40C-45D7-851B-CB5A25F781F0}"/>
              </a:ext>
            </a:extLst>
          </p:cNvPr>
          <p:cNvCxnSpPr>
            <a:cxnSpLocks/>
          </p:cNvCxnSpPr>
          <p:nvPr userDrawn="1"/>
        </p:nvCxnSpPr>
        <p:spPr>
          <a:xfrm>
            <a:off x="1008000" y="1669696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546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/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BFB6F6-DD23-C319-C509-BF9A439B2AD5}"/>
              </a:ext>
            </a:extLst>
          </p:cNvPr>
          <p:cNvSpPr/>
          <p:nvPr userDrawn="1"/>
        </p:nvSpPr>
        <p:spPr>
          <a:xfrm>
            <a:off x="0" y="0"/>
            <a:ext cx="8134900" cy="592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8054434" y="0"/>
            <a:ext cx="4084320" cy="592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266421" y="4048054"/>
            <a:ext cx="1191260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1070" y="3291185"/>
            <a:ext cx="6262306" cy="49616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80000"/>
              </a:lnSpc>
              <a:defRPr sz="32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F71E382-4487-9CF6-B769-ADBAB9E282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43377" y="0"/>
            <a:ext cx="4848624" cy="59213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62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4D32BE-B16B-0254-1A9D-5F0CEA91D4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943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81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5FF27DC-CBC1-759E-BF4E-5311CB8AD5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828800"/>
            <a:ext cx="6096000" cy="2736984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806E58-9E18-DD91-4909-CB29E1C4B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3" y="714685"/>
            <a:ext cx="5334018" cy="49616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>
              <a:lnSpc>
                <a:spcPct val="80000"/>
              </a:lnSpc>
              <a:defRPr sz="3200" b="1"/>
            </a:lvl1pPr>
          </a:lstStyle>
          <a:p>
            <a:r>
              <a:rPr lang="en-GB"/>
              <a:t>Add area name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E8D92B-836E-EE3C-94DF-E130B955EB06}"/>
              </a:ext>
            </a:extLst>
          </p:cNvPr>
          <p:cNvSpPr txBox="1"/>
          <p:nvPr userDrawn="1"/>
        </p:nvSpPr>
        <p:spPr>
          <a:xfrm>
            <a:off x="6372226" y="517708"/>
            <a:ext cx="53863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2000" b="1"/>
              <a:t>Summary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17EAA8-EB4E-14DA-205A-1BB26DA90E4D}"/>
              </a:ext>
            </a:extLst>
          </p:cNvPr>
          <p:cNvSpPr txBox="1"/>
          <p:nvPr userDrawn="1"/>
        </p:nvSpPr>
        <p:spPr>
          <a:xfrm>
            <a:off x="6372226" y="3228945"/>
            <a:ext cx="53863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2000" b="1"/>
              <a:t>Key activities and priorities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5E537-17B3-A673-B6EA-A62B073B6E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6525" y="917575"/>
            <a:ext cx="5272088" cy="2214965"/>
          </a:xfrm>
        </p:spPr>
        <p:txBody>
          <a:bodyPr>
            <a:sp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u="sng">
                <a:solidFill>
                  <a:srgbClr val="000000"/>
                </a:solidFill>
                <a:ea typeface="+mn-lt"/>
                <a:cs typeface="+mn-lt"/>
              </a:rPr>
              <a:t>60 word summary: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Lorem ipsum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dolor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sit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amet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consectetur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adipiscing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elit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Curabitur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sed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lorem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enim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Sed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laoreet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tincidunt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consectetur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Curabitur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porta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eleifend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gravida. Morbi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finibus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felis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id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lacus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tincidunt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, et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ornare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nisi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laoreet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Nulla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dignissim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dolor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quis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pellentesque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posuere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Suspendisse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sed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velit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finibus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, pulvinar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turpis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vel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faucibus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nisl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Quisque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semper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lectus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rutrum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justo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porta, in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ornare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tellus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condimentum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Aliquam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nec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elit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eget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urna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blandit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posuere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 ac a </a:t>
            </a:r>
            <a:r>
              <a:rPr lang="en-GB" sz="1600" err="1">
                <a:solidFill>
                  <a:srgbClr val="000000"/>
                </a:solidFill>
                <a:ea typeface="+mn-lt"/>
                <a:cs typeface="+mn-lt"/>
              </a:rPr>
              <a:t>justo</a:t>
            </a:r>
            <a:r>
              <a:rPr lang="en-GB" sz="1600">
                <a:solidFill>
                  <a:srgbClr val="000000"/>
                </a:solidFill>
                <a:ea typeface="+mn-lt"/>
                <a:cs typeface="+mn-lt"/>
              </a:rPr>
              <a:t>. </a:t>
            </a:r>
            <a:endParaRPr lang="en-GB" sz="1600">
              <a:ea typeface="+mn-lt"/>
              <a:cs typeface="+mn-lt"/>
            </a:endParaRPr>
          </a:p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9E1B29-3BAB-7870-1FF4-E8C22007DF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86525" y="3757613"/>
            <a:ext cx="5272088" cy="18859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D4B81-E0C7-FF5B-F9E4-A4693D492012}"/>
              </a:ext>
            </a:extLst>
          </p:cNvPr>
          <p:cNvSpPr txBox="1"/>
          <p:nvPr userDrawn="1"/>
        </p:nvSpPr>
        <p:spPr>
          <a:xfrm>
            <a:off x="500063" y="4700588"/>
            <a:ext cx="53863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600" b="1"/>
              <a:t>More information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F59FCD-6607-AEED-BA08-A07478F0CB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569" y="5049084"/>
            <a:ext cx="5243512" cy="762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sz="1400" err="1"/>
              <a:t>Eg</a:t>
            </a:r>
            <a:r>
              <a:rPr lang="en-US" sz="1400"/>
              <a:t> website, video, people directory </a:t>
            </a:r>
            <a:r>
              <a:rPr lang="en-US" sz="1400" err="1"/>
              <a:t>etc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0132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82A736-324C-1592-ADD5-201C020FC7E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8200" y="2530929"/>
            <a:ext cx="5181600" cy="36460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ADE7C8C-631F-7B48-46D1-B34D7D3C3E1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182909" y="2553788"/>
            <a:ext cx="5181600" cy="36460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94F43-A2F2-E375-D860-E6DD19BE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0248"/>
            <a:ext cx="10515600" cy="82391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7FE30-DCC9-4DC8-3FC2-D19C58C7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73547"/>
            <a:ext cx="5181600" cy="47911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0BDEF-B4BD-6D9E-FFFA-1C72C7296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909" y="1950688"/>
            <a:ext cx="5170891" cy="501977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653D5-E9B2-1272-995E-B6B1D2DF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E4C9-575A-654B-B245-8F8035D1BED1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D7E56-C057-3102-53CF-99A12FC1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5BC03-0600-8B1B-209C-C287EEA0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6BE0-127D-E144-9056-35D346D64D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512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6E449351-7692-CD6D-BC97-08DCFC1795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4000" y="2053313"/>
            <a:ext cx="10515600" cy="3630796"/>
          </a:xfrm>
          <a:noFill/>
        </p:spPr>
        <p:txBody>
          <a:bodyPr lIns="90000" tIns="0" rIns="90000" bIns="468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ED04CD-6B58-DB35-482B-CA9F7F06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00" y="365125"/>
            <a:ext cx="10515600" cy="1325563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81A41F-2B9E-325E-877D-C7FD1FE4830E}"/>
              </a:ext>
            </a:extLst>
          </p:cNvPr>
          <p:cNvCxnSpPr>
            <a:cxnSpLocks/>
          </p:cNvCxnSpPr>
          <p:nvPr userDrawn="1"/>
        </p:nvCxnSpPr>
        <p:spPr>
          <a:xfrm>
            <a:off x="864000" y="18396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397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40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994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30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Dar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9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Full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219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Full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Full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012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FullDar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CA28-3258-8E7C-4A8A-53329C746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660500"/>
            <a:ext cx="9277350" cy="849463"/>
          </a:xfrm>
        </p:spPr>
        <p:txBody>
          <a:bodyPr wrap="square" anchor="b">
            <a:sp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5E82-5525-AAD1-F315-C2306949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727768"/>
            <a:ext cx="9277350" cy="424732"/>
          </a:xfrm>
        </p:spPr>
        <p:txBody>
          <a:bodyPr wrap="square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9CF57B-BE76-B7A3-DFDB-F62C12579275}"/>
              </a:ext>
            </a:extLst>
          </p:cNvPr>
          <p:cNvCxnSpPr/>
          <p:nvPr userDrawn="1"/>
        </p:nvCxnSpPr>
        <p:spPr>
          <a:xfrm>
            <a:off x="1044000" y="3492000"/>
            <a:ext cx="1460157" cy="0"/>
          </a:xfrm>
          <a:prstGeom prst="line">
            <a:avLst/>
          </a:prstGeom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44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158532"/>
            <a:ext cx="4515402" cy="2326791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3B32FA-AB48-ACD8-44BB-20FC5C654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2000" y="0"/>
            <a:ext cx="6120000" cy="592296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137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rgbClr val="6AC5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158532"/>
            <a:ext cx="4515402" cy="2326791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3B32FA-AB48-ACD8-44BB-20FC5C654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2000" y="0"/>
            <a:ext cx="6120000" cy="592296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773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158532"/>
            <a:ext cx="4515402" cy="2326791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3B32FA-AB48-ACD8-44BB-20FC5C654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2000" y="0"/>
            <a:ext cx="6120000" cy="592296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3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_Dar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158532"/>
            <a:ext cx="4515402" cy="2326791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3B32FA-AB48-ACD8-44BB-20FC5C654F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2000" y="0"/>
            <a:ext cx="6120000" cy="592296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208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381990"/>
            <a:ext cx="4515402" cy="210333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1980" y="-1"/>
            <a:ext cx="607002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8177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381990"/>
            <a:ext cx="4515402" cy="210333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1980" y="-1"/>
            <a:ext cx="607002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0769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381990"/>
            <a:ext cx="4515402" cy="210333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1980" y="-1"/>
            <a:ext cx="607002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486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_Dark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6120000" cy="592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381990"/>
            <a:ext cx="4515402" cy="2103333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1980" y="-1"/>
            <a:ext cx="607002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5135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Tex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4EF734-225C-739B-F39B-280EC6EACF8A}"/>
              </a:ext>
            </a:extLst>
          </p:cNvPr>
          <p:cNvSpPr/>
          <p:nvPr userDrawn="1"/>
        </p:nvSpPr>
        <p:spPr>
          <a:xfrm>
            <a:off x="0" y="0"/>
            <a:ext cx="4084320" cy="592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25D12-DA82-0F64-B5F0-AFDB4813D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1014518"/>
            <a:ext cx="2550336" cy="2470805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B96B6-C823-D67C-B26F-5CD60B0BA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8"/>
            <a:ext cx="2550336" cy="75713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1044000" y="34920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47F9C4-6B34-D081-154D-D1DD12698A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84320" y="0"/>
            <a:ext cx="8107680" cy="5921375"/>
          </a:xfrm>
          <a:solidFill>
            <a:schemeClr val="bg1"/>
          </a:solidFill>
        </p:spPr>
        <p:txBody>
          <a:bodyPr lIns="540000" tIns="9000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2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57A787A-5B26-5E5F-8C4A-D9CAF85B7F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00000" y="2055813"/>
            <a:ext cx="10515600" cy="358606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0AA01-B911-2142-70CA-329C81AF8FCB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43837-B7AA-58EE-AEF3-5A37A84C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365125"/>
            <a:ext cx="10515600" cy="1325563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4F3AE-297E-5938-F544-541FD8F7683F}"/>
              </a:ext>
            </a:extLst>
          </p:cNvPr>
          <p:cNvCxnSpPr>
            <a:cxnSpLocks/>
          </p:cNvCxnSpPr>
          <p:nvPr userDrawn="1"/>
        </p:nvCxnSpPr>
        <p:spPr>
          <a:xfrm>
            <a:off x="1019616" y="1669696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10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30AA01-B911-2142-70CA-329C81AF8FCB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43837-B7AA-58EE-AEF3-5A37A84C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365125"/>
            <a:ext cx="10515600" cy="1325563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4F3AE-297E-5938-F544-541FD8F7683F}"/>
              </a:ext>
            </a:extLst>
          </p:cNvPr>
          <p:cNvCxnSpPr>
            <a:cxnSpLocks/>
          </p:cNvCxnSpPr>
          <p:nvPr userDrawn="1"/>
        </p:nvCxnSpPr>
        <p:spPr>
          <a:xfrm>
            <a:off x="1019616" y="1669696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544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with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4A6997-D66F-64A3-1D50-902B4FE398AA}"/>
              </a:ext>
            </a:extLst>
          </p:cNvPr>
          <p:cNvSpPr/>
          <p:nvPr userDrawn="1"/>
        </p:nvSpPr>
        <p:spPr>
          <a:xfrm>
            <a:off x="76200" y="0"/>
            <a:ext cx="12192000" cy="1690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DA5A9-986A-A65F-7DF9-15C20152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365125"/>
            <a:ext cx="10515600" cy="1325563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427D-D92A-BB52-E3B8-976691A0A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000" y="2055813"/>
            <a:ext cx="5032170" cy="357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FDC9A-44FA-A8C0-F6CB-25CDCD57C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5813"/>
            <a:ext cx="5181600" cy="35788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54E6E1-A40C-45D7-851B-CB5A25F781F0}"/>
              </a:ext>
            </a:extLst>
          </p:cNvPr>
          <p:cNvCxnSpPr>
            <a:cxnSpLocks/>
          </p:cNvCxnSpPr>
          <p:nvPr userDrawn="1"/>
        </p:nvCxnSpPr>
        <p:spPr>
          <a:xfrm>
            <a:off x="1019616" y="1669696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230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4D32BE-B16B-0254-1A9D-5F0CEA91D4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943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6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057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Mixed content - corporate simp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59084"/>
          </a:xfrm>
        </p:spPr>
        <p:txBody>
          <a:bodyPr anchor="b"/>
          <a:lstStyle>
            <a:lvl1pPr>
              <a:defRPr sz="3200" b="1" i="0">
                <a:latin typeface="Source Sans Pro Semibold" panose="020B05030304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0012" y="0"/>
            <a:ext cx="7011988" cy="5733144"/>
          </a:xfrm>
        </p:spPr>
        <p:txBody>
          <a:bodyPr/>
          <a:lstStyle>
            <a:lvl1pPr marL="0" indent="0">
              <a:buNone/>
              <a:defRPr sz="3200">
                <a:latin typeface="Source Sans Pro" panose="020B0503030403020204" pitchFamily="34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47778"/>
            <a:ext cx="3932237" cy="3738622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0719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6E449351-7692-CD6D-BC97-08DCFC1795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4000" y="2053313"/>
            <a:ext cx="10515600" cy="3630796"/>
          </a:xfrm>
          <a:noFill/>
        </p:spPr>
        <p:txBody>
          <a:bodyPr lIns="90000" tIns="0" rIns="90000" bIns="468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ED04CD-6B58-DB35-482B-CA9F7F06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00" y="365125"/>
            <a:ext cx="10515600" cy="1325563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81A41F-2B9E-325E-877D-C7FD1FE4830E}"/>
              </a:ext>
            </a:extLst>
          </p:cNvPr>
          <p:cNvCxnSpPr>
            <a:cxnSpLocks/>
          </p:cNvCxnSpPr>
          <p:nvPr userDrawn="1"/>
        </p:nvCxnSpPr>
        <p:spPr>
          <a:xfrm>
            <a:off x="864000" y="18396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658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Third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86A218-4A7C-441C-F3BC-5024710669A3}"/>
              </a:ext>
            </a:extLst>
          </p:cNvPr>
          <p:cNvCxnSpPr>
            <a:cxnSpLocks/>
          </p:cNvCxnSpPr>
          <p:nvPr userDrawn="1"/>
        </p:nvCxnSpPr>
        <p:spPr>
          <a:xfrm>
            <a:off x="874713" y="1839600"/>
            <a:ext cx="1191260" cy="0"/>
          </a:xfrm>
          <a:prstGeom prst="line">
            <a:avLst/>
          </a:prstGeom>
          <a:ln w="635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13783FB-C7FA-829F-ADD6-A3DB9C6764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5883" y="0"/>
            <a:ext cx="4066117" cy="5922963"/>
          </a:xfr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51E0765-663D-714A-0BCC-5F4AE6C3C9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4000" y="2052153"/>
            <a:ext cx="6930355" cy="3717575"/>
          </a:xfrm>
          <a:noFill/>
        </p:spPr>
        <p:txBody>
          <a:bodyPr lIns="90000" tIns="0" rIns="90000" bIns="46800"/>
          <a:lstStyle>
            <a:lvl1pPr marL="0" indent="0">
              <a:buNone/>
              <a:defRPr sz="24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0DE0B61-BE9D-2E40-4D56-82A0C2C2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00" y="365125"/>
            <a:ext cx="7074106" cy="1325563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87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B1E18CF-039D-8A6A-A5B7-F5E7113F743D}"/>
              </a:ext>
            </a:extLst>
          </p:cNvPr>
          <p:cNvGrpSpPr/>
          <p:nvPr userDrawn="1"/>
        </p:nvGrpSpPr>
        <p:grpSpPr>
          <a:xfrm>
            <a:off x="0" y="5924145"/>
            <a:ext cx="12192000" cy="933855"/>
            <a:chOff x="0" y="5924145"/>
            <a:chExt cx="12192000" cy="9338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1BF05B-EFD5-E29E-1821-464452644566}"/>
                </a:ext>
              </a:extLst>
            </p:cNvPr>
            <p:cNvSpPr/>
            <p:nvPr userDrawn="1"/>
          </p:nvSpPr>
          <p:spPr>
            <a:xfrm>
              <a:off x="0" y="5924145"/>
              <a:ext cx="12192000" cy="9338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4CA067-E202-4276-0F3A-FF8C03F758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9010" y="6062058"/>
              <a:ext cx="2897627" cy="65802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139E11-4250-A96B-4808-6381EAB474F1}"/>
                </a:ext>
              </a:extLst>
            </p:cNvPr>
            <p:cNvSpPr txBox="1"/>
            <p:nvPr userDrawn="1"/>
          </p:nvSpPr>
          <p:spPr>
            <a:xfrm>
              <a:off x="9012562" y="6206405"/>
              <a:ext cx="28976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>
                  <a:solidFill>
                    <a:schemeClr val="bg2">
                      <a:lumMod val="90000"/>
                    </a:schemeClr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#</a:t>
              </a:r>
              <a:r>
                <a:rPr lang="en-GB" b="0" i="0" err="1">
                  <a:solidFill>
                    <a:schemeClr val="bg2">
                      <a:lumMod val="90000"/>
                    </a:schemeClr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ChallengeCreateChange</a:t>
              </a:r>
              <a:endParaRPr lang="en-US">
                <a:solidFill>
                  <a:schemeClr val="bg2">
                    <a:lumMod val="9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F0883-A9B0-75CB-ABEA-B1DDDA2A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F874E-419A-AFDB-100B-954ED14A0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16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1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70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B1E18CF-039D-8A6A-A5B7-F5E7113F743D}"/>
              </a:ext>
            </a:extLst>
          </p:cNvPr>
          <p:cNvGrpSpPr/>
          <p:nvPr userDrawn="1"/>
        </p:nvGrpSpPr>
        <p:grpSpPr>
          <a:xfrm>
            <a:off x="0" y="5924145"/>
            <a:ext cx="12192000" cy="933855"/>
            <a:chOff x="0" y="5924145"/>
            <a:chExt cx="12192000" cy="93385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1BF05B-EFD5-E29E-1821-464452644566}"/>
                </a:ext>
              </a:extLst>
            </p:cNvPr>
            <p:cNvSpPr/>
            <p:nvPr userDrawn="1"/>
          </p:nvSpPr>
          <p:spPr>
            <a:xfrm>
              <a:off x="0" y="5924145"/>
              <a:ext cx="12192000" cy="93385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4CA067-E202-4276-0F3A-FF8C03F758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9010" y="6062058"/>
              <a:ext cx="2897627" cy="65802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139E11-4250-A96B-4808-6381EAB474F1}"/>
                </a:ext>
              </a:extLst>
            </p:cNvPr>
            <p:cNvSpPr txBox="1"/>
            <p:nvPr userDrawn="1"/>
          </p:nvSpPr>
          <p:spPr>
            <a:xfrm>
              <a:off x="9012562" y="6206405"/>
              <a:ext cx="28976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i="0">
                  <a:solidFill>
                    <a:schemeClr val="bg2">
                      <a:lumMod val="90000"/>
                    </a:schemeClr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#</a:t>
              </a:r>
              <a:r>
                <a:rPr lang="en-GB" b="0" i="0" err="1">
                  <a:solidFill>
                    <a:schemeClr val="bg2">
                      <a:lumMod val="90000"/>
                    </a:schemeClr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ChallengeCreateChange</a:t>
              </a:r>
              <a:endParaRPr lang="en-US">
                <a:solidFill>
                  <a:schemeClr val="bg2">
                    <a:lumMod val="9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F0883-A9B0-75CB-ABEA-B1DDDA2A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F874E-419A-AFDB-100B-954ED14A0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16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8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parts-of-speech.info/" TargetMode="External"/><Relationship Id="rId7" Type="http://schemas.openxmlformats.org/officeDocument/2006/relationships/hyperlink" Target="https://huggingface.co/blog/sentiment-analysis-python" TargetMode="External"/><Relationship Id="rId2" Type="http://schemas.openxmlformats.org/officeDocument/2006/relationships/hyperlink" Target="https://nlp.stanford.edu/software/tagger.shtml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programminghistorian.org/en/lessons/understanding-creating-word-embeddings" TargetMode="External"/><Relationship Id="rId5" Type="http://schemas.openxmlformats.org/officeDocument/2006/relationships/hyperlink" Target="https://www.youtube.com/watch?v=IUAHUEy1V0Q" TargetMode="External"/><Relationship Id="rId4" Type="http://schemas.openxmlformats.org/officeDocument/2006/relationships/hyperlink" Target="https://www.turing.com/kb/a-comprehensive-guide-to-named-entity-recogni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CCE4-475B-DE67-53EF-A0CF87AA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1381990"/>
            <a:ext cx="4515402" cy="2103333"/>
          </a:xfrm>
        </p:spPr>
        <p:txBody>
          <a:bodyPr anchor="b">
            <a:normAutofit/>
          </a:bodyPr>
          <a:lstStyle/>
          <a:p>
            <a:r>
              <a:rPr lang="en-US" sz="4600"/>
              <a:t>Text Analysis and the Humanities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B6D167E-3D0B-82AE-BBB2-1FAEAAC79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072000" y="931"/>
            <a:ext cx="6120000" cy="5921100"/>
          </a:xfrm>
          <a:noFill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52F93-1F2A-ED95-8E6A-7C3F94E2F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2229328"/>
          </a:xfrm>
        </p:spPr>
        <p:txBody>
          <a:bodyPr vert="horz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endParaRPr lang="en-GB" sz="18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GB" sz="18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GB" sz="180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GB" sz="1800">
              <a:solidFill>
                <a:srgbClr val="000000"/>
              </a:solidFill>
              <a:ea typeface="Calibri"/>
              <a:cs typeface="Calibri"/>
            </a:endParaRPr>
          </a:p>
          <a:p>
            <a:pPr algn="r"/>
            <a:r>
              <a:rPr lang="en-GB" sz="1800">
                <a:solidFill>
                  <a:srgbClr val="000000"/>
                </a:solidFill>
                <a:ea typeface="Calibri"/>
                <a:cs typeface="Calibri"/>
              </a:rPr>
              <a:t>Lucia Michielin, Digital Skills Training Manager</a:t>
            </a:r>
            <a:endParaRPr lang="en-GB" sz="1800">
              <a:ea typeface="Calibri" panose="020F0502020204030204"/>
              <a:cs typeface="Calibri" panose="020F0502020204030204"/>
            </a:endParaRPr>
          </a:p>
          <a:p>
            <a:endParaRPr lang="en-US" sz="1800">
              <a:solidFill>
                <a:schemeClr val="bg2">
                  <a:lumMod val="2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572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0E2FA7-BC68-579D-6C5D-8AA36690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Plan for today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1309E9-8216-868B-433E-1FFE935F9696}"/>
              </a:ext>
            </a:extLst>
          </p:cNvPr>
          <p:cNvSpPr>
            <a:spLocks noChangeAspect="1"/>
          </p:cNvSpPr>
          <p:nvPr/>
        </p:nvSpPr>
        <p:spPr>
          <a:xfrm>
            <a:off x="2956492" y="2310543"/>
            <a:ext cx="2516508" cy="25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Segoe UI"/>
                <a:cs typeface="Segoe UI"/>
              </a:rPr>
              <a:t>Analysis &amp; </a:t>
            </a:r>
            <a:r>
              <a:rPr lang="en-US" sz="2200" err="1">
                <a:solidFill>
                  <a:srgbClr val="FFFFFF"/>
                </a:solidFill>
                <a:latin typeface="Segoe UI"/>
                <a:cs typeface="Segoe UI"/>
              </a:rPr>
              <a:t>Visualisation</a:t>
            </a:r>
            <a:endParaRPr lang="en-US" sz="22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C21C9A-DF1B-8C33-4D74-F836BDA0CCA6}"/>
              </a:ext>
            </a:extLst>
          </p:cNvPr>
          <p:cNvSpPr>
            <a:spLocks noChangeAspect="1"/>
          </p:cNvSpPr>
          <p:nvPr/>
        </p:nvSpPr>
        <p:spPr>
          <a:xfrm>
            <a:off x="7491879" y="2310543"/>
            <a:ext cx="2566114" cy="25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Our Dataset &amp; Python Demo</a:t>
            </a:r>
            <a:endParaRPr lang="en-US" sz="200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1376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D88FC5-7F72-DABC-1CDC-6C9253BF2740}"/>
              </a:ext>
            </a:extLst>
          </p:cNvPr>
          <p:cNvSpPr txBox="1"/>
          <p:nvPr/>
        </p:nvSpPr>
        <p:spPr>
          <a:xfrm>
            <a:off x="595313" y="631815"/>
            <a:ext cx="951584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Analysis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4D6B9F-6DF2-4A31-8A5F-6E0DC58B1BBC}"/>
              </a:ext>
            </a:extLst>
          </p:cNvPr>
          <p:cNvCxnSpPr/>
          <p:nvPr/>
        </p:nvCxnSpPr>
        <p:spPr>
          <a:xfrm flipV="1">
            <a:off x="686608" y="1489403"/>
            <a:ext cx="1188000" cy="0"/>
          </a:xfrm>
          <a:prstGeom prst="straightConnector1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B399122-7EF7-47ED-BFEC-1A47B1C0DD41}"/>
              </a:ext>
            </a:extLst>
          </p:cNvPr>
          <p:cNvSpPr txBox="1"/>
          <p:nvPr/>
        </p:nvSpPr>
        <p:spPr>
          <a:xfrm>
            <a:off x="595313" y="1489403"/>
            <a:ext cx="744178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Keyword Search/Term Frequency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Counts the occurrences of a specific word within a document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Inverse Document Frequency (TF-IDF)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Measure that assesses how crucial a word is to a document within a corpus, reducing the weight of commonly used words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Key-word in Context (KWIC)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Displays occurrences of a specific word alongside its surrounding words, offering insights into the usage and context of the word within the document.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Bigrams &amp;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Ngrams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Refers to sequences of two (bigrams) or 'n' (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ngrams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) consecutive words used for statistical analysis of text patterns, capturing more contextual information than single-word analysis.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Collocation Analysis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Analyses the frequency and tendency of pairs or groups of words appearing close together more often than by chance, identifying commonly co-occurring terms and phrases.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2" descr="a person holding a light bulb in their hand">
            <a:extLst>
              <a:ext uri="{FF2B5EF4-FFF2-40B4-BE49-F238E27FC236}">
                <a16:creationId xmlns:a16="http://schemas.microsoft.com/office/drawing/2014/main" id="{FE1B4F77-7B0D-41B0-B017-AF5A6D024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0"/>
          <a:stretch/>
        </p:blipFill>
        <p:spPr bwMode="auto">
          <a:xfrm>
            <a:off x="8128390" y="0"/>
            <a:ext cx="4064000" cy="592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70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D88FC5-7F72-DABC-1CDC-6C9253BF2740}"/>
              </a:ext>
            </a:extLst>
          </p:cNvPr>
          <p:cNvSpPr txBox="1"/>
          <p:nvPr/>
        </p:nvSpPr>
        <p:spPr>
          <a:xfrm>
            <a:off x="595313" y="631815"/>
            <a:ext cx="951584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Advanced Techniques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4D6B9F-6DF2-4A31-8A5F-6E0DC58B1BBC}"/>
              </a:ext>
            </a:extLst>
          </p:cNvPr>
          <p:cNvCxnSpPr/>
          <p:nvPr/>
        </p:nvCxnSpPr>
        <p:spPr>
          <a:xfrm flipV="1">
            <a:off x="686608" y="1489403"/>
            <a:ext cx="1188000" cy="0"/>
          </a:xfrm>
          <a:prstGeom prst="straightConnector1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B002184-2177-4D90-A5C9-5A10787892EE}"/>
              </a:ext>
            </a:extLst>
          </p:cNvPr>
          <p:cNvSpPr txBox="1"/>
          <p:nvPr/>
        </p:nvSpPr>
        <p:spPr>
          <a:xfrm>
            <a:off x="686608" y="1719930"/>
            <a:ext cx="7166003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 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Part of Speech tagging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identify language structures (M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ore info </a:t>
            </a:r>
            <a:r>
              <a:rPr kumimoji="0" lang="en-GB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GB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try it </a:t>
            </a:r>
            <a:r>
              <a:rPr kumimoji="0" lang="en-GB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GB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Source Sans Pro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Named entity recognition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(NER) –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find people, places, organizations, etc. (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More info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Topic modelling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unsupervised Machine Learning technique to identify topics in large corpus (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video introduction/examples </a:t>
            </a:r>
            <a:r>
              <a:rPr kumimoji="0" lang="en-GB" sz="18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Word embedding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–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study meanings and how word relate to each others (Try it out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Source Sans Pro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Classification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 –  e.g. Sentiment analysis, each word is associated with a +/- value (try it out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Source Sans Pro"/>
                <a:cs typeface="Calibri"/>
              </a:rPr>
              <a:t>)</a:t>
            </a:r>
          </a:p>
        </p:txBody>
      </p:sp>
      <p:pic>
        <p:nvPicPr>
          <p:cNvPr id="12" name="Picture 2" descr="a person holding a light bulb in their hand">
            <a:extLst>
              <a:ext uri="{FF2B5EF4-FFF2-40B4-BE49-F238E27FC236}">
                <a16:creationId xmlns:a16="http://schemas.microsoft.com/office/drawing/2014/main" id="{4F42DD37-272D-4BBF-AA66-5F7D9BD96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0"/>
          <a:stretch/>
        </p:blipFill>
        <p:spPr bwMode="auto">
          <a:xfrm>
            <a:off x="8128390" y="0"/>
            <a:ext cx="4064000" cy="592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54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D88FC5-7F72-DABC-1CDC-6C9253BF2740}"/>
              </a:ext>
            </a:extLst>
          </p:cNvPr>
          <p:cNvSpPr txBox="1"/>
          <p:nvPr/>
        </p:nvSpPr>
        <p:spPr>
          <a:xfrm>
            <a:off x="557606" y="519187"/>
            <a:ext cx="951584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Visualisation</a:t>
            </a:r>
            <a:endParaRPr kumimoji="0" lang="en-US" sz="4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4D6B9F-6DF2-4A31-8A5F-6E0DC58B1BBC}"/>
              </a:ext>
            </a:extLst>
          </p:cNvPr>
          <p:cNvCxnSpPr/>
          <p:nvPr/>
        </p:nvCxnSpPr>
        <p:spPr>
          <a:xfrm flipV="1">
            <a:off x="686608" y="1489403"/>
            <a:ext cx="1188000" cy="0"/>
          </a:xfrm>
          <a:prstGeom prst="straightConnector1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B9334B-486D-43CD-8129-57D6ECE8A062}"/>
              </a:ext>
            </a:extLst>
          </p:cNvPr>
          <p:cNvSpPr txBox="1"/>
          <p:nvPr/>
        </p:nvSpPr>
        <p:spPr>
          <a:xfrm>
            <a:off x="557606" y="1720956"/>
            <a:ext cx="44258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Standard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visualisations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Explore dataset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Word-cloud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Frequency plots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Dispersion Plots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6E62976-562E-470B-9CF2-8A6C0DF2E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063" y="2856788"/>
            <a:ext cx="5309937" cy="303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C15A4D0A-F6A6-4A51-834B-D18D484C5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27" y="3292553"/>
            <a:ext cx="3070397" cy="259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B4978936-7EBC-41E9-88D8-3DE05EB3F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057" y="1814630"/>
            <a:ext cx="3545006" cy="258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CB41117F-EF63-467A-AC8D-F16EEA33D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801" y="22387"/>
            <a:ext cx="5822199" cy="296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1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AE252-B340-4DD8-9BB9-BAD8265C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74" y="3493169"/>
            <a:ext cx="8478548" cy="24224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D88FC5-7F72-DABC-1CDC-6C9253BF2740}"/>
              </a:ext>
            </a:extLst>
          </p:cNvPr>
          <p:cNvSpPr txBox="1"/>
          <p:nvPr/>
        </p:nvSpPr>
        <p:spPr>
          <a:xfrm>
            <a:off x="557606" y="519188"/>
            <a:ext cx="951584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Visualisation</a:t>
            </a:r>
            <a:endParaRPr kumimoji="0" lang="en-US" sz="4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4D6B9F-6DF2-4A31-8A5F-6E0DC58B1BBC}"/>
              </a:ext>
            </a:extLst>
          </p:cNvPr>
          <p:cNvCxnSpPr/>
          <p:nvPr/>
        </p:nvCxnSpPr>
        <p:spPr>
          <a:xfrm flipV="1">
            <a:off x="686608" y="1489403"/>
            <a:ext cx="1188000" cy="0"/>
          </a:xfrm>
          <a:prstGeom prst="straightConnector1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A364C4-8D2C-4E8F-8611-D480658D472A}"/>
              </a:ext>
            </a:extLst>
          </p:cNvPr>
          <p:cNvSpPr txBox="1"/>
          <p:nvPr/>
        </p:nvSpPr>
        <p:spPr>
          <a:xfrm>
            <a:off x="515696" y="1810828"/>
            <a:ext cx="44258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Advanced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visualisation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Geographical plots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More artistic outputs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AA9E7B91-2F90-4422-9D56-BEE8DFC55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316" y="27555"/>
            <a:ext cx="2959684" cy="385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894593C5-905C-4CCB-B3B7-BAF434385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948" y="1"/>
            <a:ext cx="2918601" cy="385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56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D88FC5-7F72-DABC-1CDC-6C9253BF2740}"/>
              </a:ext>
            </a:extLst>
          </p:cNvPr>
          <p:cNvSpPr txBox="1"/>
          <p:nvPr/>
        </p:nvSpPr>
        <p:spPr>
          <a:xfrm>
            <a:off x="557606" y="519188"/>
            <a:ext cx="951584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Geographical Data</a:t>
            </a:r>
            <a:endParaRPr kumimoji="0" lang="en-US" sz="4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4D6B9F-6DF2-4A31-8A5F-6E0DC58B1BBC}"/>
              </a:ext>
            </a:extLst>
          </p:cNvPr>
          <p:cNvCxnSpPr/>
          <p:nvPr/>
        </p:nvCxnSpPr>
        <p:spPr>
          <a:xfrm flipV="1">
            <a:off x="686608" y="1489403"/>
            <a:ext cx="1188000" cy="0"/>
          </a:xfrm>
          <a:prstGeom prst="straightConnector1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8" name="Picture 2" descr="Map&#10;&#10;Description automatically generated">
            <a:extLst>
              <a:ext uri="{FF2B5EF4-FFF2-40B4-BE49-F238E27FC236}">
                <a16:creationId xmlns:a16="http://schemas.microsoft.com/office/drawing/2014/main" id="{A12EE9AD-1DDA-4286-BE5E-E57FE7AE7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-1"/>
            <a:ext cx="4114801" cy="291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17259A-48F8-4517-884D-FBEE47AAED17}"/>
              </a:ext>
            </a:extLst>
          </p:cNvPr>
          <p:cNvSpPr txBox="1"/>
          <p:nvPr/>
        </p:nvSpPr>
        <p:spPr>
          <a:xfrm>
            <a:off x="686608" y="1777040"/>
            <a:ext cx="65002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Vectors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Generalised representation of the real world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​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Composed of XY coordinates (Lon Lat) = vertices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​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Based on Reference System (each one is different)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Points, lines or polygons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​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Char char="‒"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Normally in .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gpkg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Geopackage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format or .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shp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(Shapefile) format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580" name="Picture 4" descr="Map&#10;&#10;Description automatically generated">
            <a:extLst>
              <a:ext uri="{FF2B5EF4-FFF2-40B4-BE49-F238E27FC236}">
                <a16:creationId xmlns:a16="http://schemas.microsoft.com/office/drawing/2014/main" id="{78223163-67A3-47D6-95C1-400428B88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863516"/>
            <a:ext cx="4114800" cy="305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36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F4331-C47D-37DD-2B0B-AFE95023D196}"/>
              </a:ext>
            </a:extLst>
          </p:cNvPr>
          <p:cNvSpPr txBox="1"/>
          <p:nvPr/>
        </p:nvSpPr>
        <p:spPr>
          <a:xfrm>
            <a:off x="529295" y="615773"/>
            <a:ext cx="688665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Time for Python 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D29338-6332-6D83-64F0-7023C881CC58}"/>
              </a:ext>
            </a:extLst>
          </p:cNvPr>
          <p:cNvCxnSpPr/>
          <p:nvPr/>
        </p:nvCxnSpPr>
        <p:spPr>
          <a:xfrm flipV="1">
            <a:off x="686608" y="1477858"/>
            <a:ext cx="1188000" cy="0"/>
          </a:xfrm>
          <a:prstGeom prst="straightConnector1">
            <a:avLst/>
          </a:prstGeom>
          <a:ln w="635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Baboon Computer GIFs - Find &amp; Share on GIPHY">
            <a:extLst>
              <a:ext uri="{FF2B5EF4-FFF2-40B4-BE49-F238E27FC236}">
                <a16:creationId xmlns:a16="http://schemas.microsoft.com/office/drawing/2014/main" id="{209B06F3-E321-4C4D-B7C5-28E69BB94E1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8" y="2074117"/>
            <a:ext cx="5387747" cy="303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93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CCE4-475B-DE67-53EF-A0CF87AA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2711585"/>
            <a:ext cx="4515402" cy="773738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Questions?</a:t>
            </a:r>
          </a:p>
        </p:txBody>
      </p:sp>
      <p:pic>
        <p:nvPicPr>
          <p:cNvPr id="8" name="Picture Placeholder 7" descr="A group of people walking up the stairs to a building&#10;&#10;Description automatically generated">
            <a:extLst>
              <a:ext uri="{FF2B5EF4-FFF2-40B4-BE49-F238E27FC236}">
                <a16:creationId xmlns:a16="http://schemas.microsoft.com/office/drawing/2014/main" id="{D40052AF-B862-D1F3-E662-85FDFAE292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559" r="15559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C9A90-82C5-F4B9-F234-AAE2BBEC0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000" y="3764599"/>
            <a:ext cx="4515402" cy="424732"/>
          </a:xfrm>
        </p:spPr>
        <p:txBody>
          <a:bodyPr vert="horz" lIns="91440" tIns="45720" rIns="91440" bIns="45720" rtlCol="0" anchor="t">
            <a:spAutoFit/>
          </a:bodyPr>
          <a:lstStyle/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1401511"/>
      </p:ext>
    </p:extLst>
  </p:cSld>
  <p:clrMapOvr>
    <a:masterClrMapping/>
  </p:clrMapOvr>
</p:sld>
</file>

<file path=ppt/theme/theme1.xml><?xml version="1.0" encoding="utf-8"?>
<a:theme xmlns:a="http://schemas.openxmlformats.org/drawingml/2006/main" name="EFI Theme - alt">
  <a:themeElements>
    <a:clrScheme name="EFI">
      <a:dk1>
        <a:srgbClr val="000000"/>
      </a:dk1>
      <a:lt1>
        <a:srgbClr val="FFFFFF"/>
      </a:lt1>
      <a:dk2>
        <a:srgbClr val="44546A"/>
      </a:dk2>
      <a:lt2>
        <a:srgbClr val="F8F8F8"/>
      </a:lt2>
      <a:accent1>
        <a:srgbClr val="CC3652"/>
      </a:accent1>
      <a:accent2>
        <a:srgbClr val="70BE9A"/>
      </a:accent2>
      <a:accent3>
        <a:srgbClr val="F8F8F8"/>
      </a:accent3>
      <a:accent4>
        <a:srgbClr val="F1831F"/>
      </a:accent4>
      <a:accent5>
        <a:srgbClr val="6AC0DF"/>
      </a:accent5>
      <a:accent6>
        <a:srgbClr val="70AD47"/>
      </a:accent6>
      <a:hlink>
        <a:srgbClr val="012C56"/>
      </a:hlink>
      <a:folHlink>
        <a:srgbClr val="0002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FI-presentation-template-test" id="{E31AD81A-479D-4247-8633-4251CA49D2E8}" vid="{D476C32A-0653-5445-A90A-7630CE761106}"/>
    </a:ext>
  </a:extLst>
</a:theme>
</file>

<file path=ppt/theme/theme2.xml><?xml version="1.0" encoding="utf-8"?>
<a:theme xmlns:a="http://schemas.openxmlformats.org/drawingml/2006/main" name="EFI Theme_Colour">
  <a:themeElements>
    <a:clrScheme name="EFI">
      <a:dk1>
        <a:srgbClr val="000000"/>
      </a:dk1>
      <a:lt1>
        <a:srgbClr val="FFFFFF"/>
      </a:lt1>
      <a:dk2>
        <a:srgbClr val="44546A"/>
      </a:dk2>
      <a:lt2>
        <a:srgbClr val="F8F8F8"/>
      </a:lt2>
      <a:accent1>
        <a:srgbClr val="C9464F"/>
      </a:accent1>
      <a:accent2>
        <a:srgbClr val="70BE9A"/>
      </a:accent2>
      <a:accent3>
        <a:srgbClr val="F8F8F8"/>
      </a:accent3>
      <a:accent4>
        <a:srgbClr val="F1831F"/>
      </a:accent4>
      <a:accent5>
        <a:srgbClr val="6AC0DF"/>
      </a:accent5>
      <a:accent6>
        <a:srgbClr val="70AD47"/>
      </a:accent6>
      <a:hlink>
        <a:srgbClr val="012C56"/>
      </a:hlink>
      <a:folHlink>
        <a:srgbClr val="0002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FI-presentation-template-test" id="{E31AD81A-479D-4247-8633-4251CA49D2E8}" vid="{D476C32A-0653-5445-A90A-7630CE76110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347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Helvetica Neue</vt:lpstr>
      <vt:lpstr>Segoe UI</vt:lpstr>
      <vt:lpstr>Source Sans Pro</vt:lpstr>
      <vt:lpstr>Source Sans Pro Semibold</vt:lpstr>
      <vt:lpstr>EFI Theme - alt</vt:lpstr>
      <vt:lpstr>EFI Theme_Colour</vt:lpstr>
      <vt:lpstr>Text Analysis and the Humanities</vt:lpstr>
      <vt:lpstr>Our Plan for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Analysis and the Humanities</dc:title>
  <dc:creator>Lucia Michielin</dc:creator>
  <cp:lastModifiedBy>Lucia Michielin</cp:lastModifiedBy>
  <cp:revision>2</cp:revision>
  <dcterms:created xsi:type="dcterms:W3CDTF">2026-04-15T15:33:57Z</dcterms:created>
  <dcterms:modified xsi:type="dcterms:W3CDTF">2026-05-01T15:49:32Z</dcterms:modified>
</cp:coreProperties>
</file>